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68" r:id="rId19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71"/>
    <p:restoredTop sz="94682"/>
  </p:normalViewPr>
  <p:slideViewPr>
    <p:cSldViewPr snapToGrid="0">
      <p:cViewPr>
        <p:scale>
          <a:sx n="95" d="100"/>
          <a:sy n="95" d="100"/>
        </p:scale>
        <p:origin x="1672" y="6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AI-Powered Credit Scoring and Document OCR System for Loan Risk Assessment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Team: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Om Tomar              2210994882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Sahajpal Singh       2210994831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Ridhima                 2210994826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Ishpreet                  2210990424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Lalit Sharma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-632775" y="-105119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533372" y="1700160"/>
            <a:ext cx="7696807" cy="1682507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1B2631"/>
                </a:solidFill>
                <a:latin typeface="Aptos"/>
              </a:defRPr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1B263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Manual document checks slow loan onboarding and increase operational cost.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1B2631"/>
                </a:solidFill>
                <a:latin typeface="Aptos"/>
              </a:defRPr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1B263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Credit-risk models must detect risky borrowers while staying explainable.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1B2631"/>
                </a:solidFill>
                <a:latin typeface="Aptos"/>
              </a:defRPr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1B263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GitHub-verifiable package is needed for evaluation, reproducibility, and IPR readiness.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ACE677-3E5D-1DC9-46C9-1CFCD458628B}"/>
              </a:ext>
            </a:extLst>
          </p:cNvPr>
          <p:cNvSpPr txBox="1"/>
          <p:nvPr/>
        </p:nvSpPr>
        <p:spPr>
          <a:xfrm>
            <a:off x="113147" y="451965"/>
            <a:ext cx="5666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Reliable digital lending needs risk prediction and document understanding.</a:t>
            </a:r>
          </a:p>
          <a:p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287A312-493F-7C69-2F1F-4D78C98BA0EC}"/>
              </a:ext>
            </a:extLst>
          </p:cNvPr>
          <p:cNvSpPr/>
          <p:nvPr/>
        </p:nvSpPr>
        <p:spPr>
          <a:xfrm>
            <a:off x="701073" y="3244493"/>
            <a:ext cx="3870927" cy="850150"/>
          </a:xfrm>
          <a:prstGeom prst="roundRect">
            <a:avLst/>
          </a:prstGeom>
          <a:solidFill>
            <a:srgbClr val="FEF9E7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2C1B45-32DD-11DC-A7F7-0938A2D5A50E}"/>
              </a:ext>
            </a:extLst>
          </p:cNvPr>
          <p:cNvSpPr txBox="1"/>
          <p:nvPr/>
        </p:nvSpPr>
        <p:spPr>
          <a:xfrm>
            <a:off x="865665" y="3354222"/>
            <a:ext cx="3580607" cy="216402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Goal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0EE51E-BFD4-885E-E48F-088E4D8EC235}"/>
              </a:ext>
            </a:extLst>
          </p:cNvPr>
          <p:cNvSpPr txBox="1"/>
          <p:nvPr/>
        </p:nvSpPr>
        <p:spPr>
          <a:xfrm>
            <a:off x="865665" y="3646830"/>
            <a:ext cx="3580607" cy="448260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r>
              <a:rPr sz="2000" b="1" dirty="0">
                <a:solidFill>
                  <a:srgbClr val="0B3C5D"/>
                </a:solidFill>
                <a:latin typeface="Aptos"/>
              </a:rPr>
              <a:t>End-to-end AI workflow for loan risk assessment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7D4CD6E-118D-E590-59A8-25D5E5B0D5A8}"/>
              </a:ext>
            </a:extLst>
          </p:cNvPr>
          <p:cNvSpPr/>
          <p:nvPr/>
        </p:nvSpPr>
        <p:spPr>
          <a:xfrm>
            <a:off x="4736592" y="3244492"/>
            <a:ext cx="3721278" cy="841148"/>
          </a:xfrm>
          <a:prstGeom prst="roundRect">
            <a:avLst/>
          </a:prstGeom>
          <a:solidFill>
            <a:srgbClr val="EAF2F8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7E51EC-31BB-2769-6B1E-DA4F43BEFF47}"/>
              </a:ext>
            </a:extLst>
          </p:cNvPr>
          <p:cNvSpPr txBox="1"/>
          <p:nvPr/>
        </p:nvSpPr>
        <p:spPr>
          <a:xfrm>
            <a:off x="4917321" y="3354222"/>
            <a:ext cx="3442182" cy="21411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r>
              <a:rPr sz="1000" b="1" dirty="0">
                <a:solidFill>
                  <a:srgbClr val="566573"/>
                </a:solidFill>
                <a:latin typeface="Aptos"/>
              </a:rPr>
              <a:t>Output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E1312B-9E6A-AF31-0953-020D3CDA84B1}"/>
              </a:ext>
            </a:extLst>
          </p:cNvPr>
          <p:cNvSpPr txBox="1"/>
          <p:nvPr/>
        </p:nvSpPr>
        <p:spPr>
          <a:xfrm>
            <a:off x="4917321" y="3646830"/>
            <a:ext cx="3442182" cy="443515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r>
              <a:rPr sz="2000" b="1" dirty="0">
                <a:solidFill>
                  <a:srgbClr val="0B3C5D"/>
                </a:solidFill>
                <a:latin typeface="Aptos"/>
              </a:rPr>
              <a:t>Runnable source code + report + PPT + IPR placeholder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B515F7E-38A1-1459-ADEF-AA6456E5A908}"/>
              </a:ext>
            </a:extLst>
          </p:cNvPr>
          <p:cNvSpPr/>
          <p:nvPr/>
        </p:nvSpPr>
        <p:spPr>
          <a:xfrm>
            <a:off x="2765558" y="4276119"/>
            <a:ext cx="4081489" cy="841149"/>
          </a:xfrm>
          <a:prstGeom prst="roundRect">
            <a:avLst/>
          </a:prstGeom>
          <a:solidFill>
            <a:srgbClr val="E8F8F5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E0698-557A-D83A-6569-569EE72A0C3D}"/>
              </a:ext>
            </a:extLst>
          </p:cNvPr>
          <p:cNvSpPr txBox="1"/>
          <p:nvPr/>
        </p:nvSpPr>
        <p:spPr>
          <a:xfrm>
            <a:off x="2946288" y="4385849"/>
            <a:ext cx="3580608" cy="216402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r>
              <a:rPr sz="1000" b="1" dirty="0">
                <a:solidFill>
                  <a:srgbClr val="566573"/>
                </a:solidFill>
                <a:latin typeface="Aptos"/>
              </a:rPr>
              <a:t>Evaluation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088EE0-A858-FE0F-2178-FF45AAE39BF9}"/>
              </a:ext>
            </a:extLst>
          </p:cNvPr>
          <p:cNvSpPr txBox="1"/>
          <p:nvPr/>
        </p:nvSpPr>
        <p:spPr>
          <a:xfrm>
            <a:off x="2946288" y="4678458"/>
            <a:ext cx="3580608" cy="448262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r>
              <a:rPr sz="2000" b="1" dirty="0">
                <a:solidFill>
                  <a:srgbClr val="0B3C5D"/>
                </a:solidFill>
                <a:latin typeface="Aptos"/>
              </a:rPr>
              <a:t>Metrics, plots, reproducible configs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81069-09E8-3205-B89F-B8FB668B7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77FF890F-77D0-DB2B-45E5-0E4B645D08C0}"/>
              </a:ext>
            </a:extLst>
          </p:cNvPr>
          <p:cNvSpPr txBox="1"/>
          <p:nvPr/>
        </p:nvSpPr>
        <p:spPr>
          <a:xfrm>
            <a:off x="-574334" y="-3146"/>
            <a:ext cx="3765719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6A415820-7BBC-7BE0-078F-B2E5766F9713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09F0BF66-4FE8-1D0A-8E9A-3B78D2113A10}"/>
              </a:ext>
            </a:extLst>
          </p:cNvPr>
          <p:cNvSpPr txBox="1"/>
          <p:nvPr/>
        </p:nvSpPr>
        <p:spPr>
          <a:xfrm>
            <a:off x="723596" y="1787716"/>
            <a:ext cx="7696807" cy="1682507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1B2631"/>
                </a:solidFill>
                <a:latin typeface="Aptos"/>
              </a:defRPr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1B263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Build a reproducible credit-scoring benchmark on public datasets.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1B2631"/>
                </a:solidFill>
                <a:latin typeface="Aptos"/>
              </a:defRPr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1B263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Compare Logistic Regression, Random Forest, Gradient Boosting, and MLP.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1B2631"/>
                </a:solidFill>
                <a:latin typeface="Aptos"/>
              </a:defRPr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1B263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Save traceable metrics, plots, confusion matrices, and feature importance.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1B2631"/>
                </a:solidFill>
                <a:latin typeface="Aptos"/>
              </a:defRPr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1B263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Prepare real SROIE/FUNSD scanned-document data for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1B263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PaddleOCR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1B263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evaluation and fine-tuning.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1B2631"/>
                </a:solidFill>
                <a:latin typeface="Aptos"/>
              </a:defRPr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1B263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Package the repository according to final evaluation instructions.</a:t>
            </a:r>
          </a:p>
        </p:txBody>
      </p:sp>
    </p:spTree>
    <p:extLst>
      <p:ext uri="{BB962C8B-B14F-4D97-AF65-F5344CB8AC3E}">
        <p14:creationId xmlns:p14="http://schemas.microsoft.com/office/powerpoint/2010/main" val="1450000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18722-BD5A-9D6A-741F-DAB79FC7C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7E80D985-DB88-4394-507B-D1BECDD0F839}"/>
              </a:ext>
            </a:extLst>
          </p:cNvPr>
          <p:cNvSpPr txBox="1"/>
          <p:nvPr/>
        </p:nvSpPr>
        <p:spPr>
          <a:xfrm>
            <a:off x="-149032" y="0"/>
            <a:ext cx="3765719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4757A141-BE3B-7D52-A722-D78A58FD212E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pic>
        <p:nvPicPr>
          <p:cNvPr id="2" name="Picture 1" descr="methodology_flow.png">
            <a:extLst>
              <a:ext uri="{FF2B5EF4-FFF2-40B4-BE49-F238E27FC236}">
                <a16:creationId xmlns:a16="http://schemas.microsoft.com/office/drawing/2014/main" id="{29B125BF-BCD1-362B-FE44-2D3D68791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72" y="1929809"/>
            <a:ext cx="7882455" cy="29983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DBE81C-15CC-D985-292A-3C397B65B22E}"/>
              </a:ext>
            </a:extLst>
          </p:cNvPr>
          <p:cNvSpPr txBox="1"/>
          <p:nvPr/>
        </p:nvSpPr>
        <p:spPr>
          <a:xfrm>
            <a:off x="630771" y="4745851"/>
            <a:ext cx="7882455" cy="36468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r>
              <a:rPr sz="1400" b="0" dirty="0">
                <a:solidFill>
                  <a:srgbClr val="566573"/>
                </a:solidFill>
                <a:latin typeface="Aptos"/>
              </a:rPr>
              <a:t>Credit scoring is the core decision pipeline. OCR is the real-data document-intake extension for borrower forms.</a:t>
            </a:r>
          </a:p>
        </p:txBody>
      </p:sp>
    </p:spTree>
    <p:extLst>
      <p:ext uri="{BB962C8B-B14F-4D97-AF65-F5344CB8AC3E}">
        <p14:creationId xmlns:p14="http://schemas.microsoft.com/office/powerpoint/2010/main" val="1892957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728E5-1A38-C937-10E8-ED659CF27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AE937E8F-B3EE-B8B5-7F19-097AC5A87FEE}"/>
              </a:ext>
            </a:extLst>
          </p:cNvPr>
          <p:cNvSpPr txBox="1"/>
          <p:nvPr/>
        </p:nvSpPr>
        <p:spPr>
          <a:xfrm>
            <a:off x="-149032" y="0"/>
            <a:ext cx="5826818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Credit-Scoring Experiment Design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6654163-26C5-ABEA-4F0A-1FBE447EC36A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>
            <a:extLst>
              <a:ext uri="{FF2B5EF4-FFF2-40B4-BE49-F238E27FC236}">
                <a16:creationId xmlns:a16="http://schemas.microsoft.com/office/drawing/2014/main" id="{2FEDD7A2-4FC6-5237-C0D7-B3E85B340589}"/>
              </a:ext>
            </a:extLst>
          </p:cNvPr>
          <p:cNvSpPr txBox="1"/>
          <p:nvPr/>
        </p:nvSpPr>
        <p:spPr>
          <a:xfrm>
            <a:off x="656281" y="1783287"/>
            <a:ext cx="2978755" cy="172884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1B2631"/>
                </a:solidFill>
                <a:latin typeface="Aptos"/>
              </a:defRPr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1B263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Datasets: German Credit and Lending Club sample.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1B2631"/>
                </a:solidFill>
                <a:latin typeface="Aptos"/>
              </a:defRPr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1B263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 imputation, one-hot encoding, scaling, class weighting, oversampling.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1B2631"/>
                </a:solidFill>
                <a:latin typeface="Aptos"/>
              </a:defRPr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1B263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Metrics: ROC-AUC, PR-AUC, precision, recall, F1, accuracy, confusion matrix.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1B2631"/>
                </a:solidFill>
                <a:latin typeface="Aptos"/>
              </a:defRPr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1B263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Explainability: feature-importance CSV and plot saved for every run.</a:t>
            </a:r>
          </a:p>
        </p:txBody>
      </p:sp>
      <p:pic>
        <p:nvPicPr>
          <p:cNvPr id="7" name="Picture 6" descr="credit_benchmark_comparison.png">
            <a:extLst>
              <a:ext uri="{FF2B5EF4-FFF2-40B4-BE49-F238E27FC236}">
                <a16:creationId xmlns:a16="http://schemas.microsoft.com/office/drawing/2014/main" id="{2BE5B0E3-B776-6F70-4826-6AAA32620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047" y="2255091"/>
            <a:ext cx="4553672" cy="225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60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D9E77-E2E6-B48B-7D26-1B49A27A7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6CD3789F-A80A-F651-87E9-F99F6D7F8896}"/>
              </a:ext>
            </a:extLst>
          </p:cNvPr>
          <p:cNvSpPr txBox="1"/>
          <p:nvPr/>
        </p:nvSpPr>
        <p:spPr>
          <a:xfrm>
            <a:off x="-149033" y="0"/>
            <a:ext cx="6487487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CREDIT-SCORING RESULTS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8CF9EE2E-EAA6-0451-0782-4EC2F2D2A24D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783F9-3696-DDAC-00F2-EA69E88AC443}"/>
              </a:ext>
            </a:extLst>
          </p:cNvPr>
          <p:cNvSpPr/>
          <p:nvPr/>
        </p:nvSpPr>
        <p:spPr>
          <a:xfrm>
            <a:off x="457560" y="1371600"/>
            <a:ext cx="3794760" cy="1755648"/>
          </a:xfrm>
          <a:prstGeom prst="roundRect">
            <a:avLst/>
          </a:prstGeom>
          <a:solidFill>
            <a:srgbClr val="FFFFFF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Aa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6FCEA9-56D9-30D7-24F5-C8F0C20C7B4D}"/>
              </a:ext>
            </a:extLst>
          </p:cNvPr>
          <p:cNvSpPr txBox="1"/>
          <p:nvPr/>
        </p:nvSpPr>
        <p:spPr>
          <a:xfrm>
            <a:off x="622152" y="1481328"/>
            <a:ext cx="3541776" cy="2457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German Credit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3C1CD6-1EF9-E61C-8853-8B662C26CBDC}"/>
              </a:ext>
            </a:extLst>
          </p:cNvPr>
          <p:cNvSpPr txBox="1"/>
          <p:nvPr/>
        </p:nvSpPr>
        <p:spPr>
          <a:xfrm>
            <a:off x="622152" y="1773936"/>
            <a:ext cx="3541776" cy="1299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 dirty="0">
                <a:solidFill>
                  <a:srgbClr val="0B3C5D"/>
                </a:solidFill>
                <a:latin typeface="Aptos"/>
              </a:rPr>
              <a:t>Logistic Regression
ROC-AUC 0.831
Recall 0.778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15DDD52-F4D8-7BA8-7694-30AA8862B5D5}"/>
              </a:ext>
            </a:extLst>
          </p:cNvPr>
          <p:cNvSpPr/>
          <p:nvPr/>
        </p:nvSpPr>
        <p:spPr>
          <a:xfrm>
            <a:off x="4917809" y="1371601"/>
            <a:ext cx="3604039" cy="1701516"/>
          </a:xfrm>
          <a:prstGeom prst="roundRect">
            <a:avLst/>
          </a:prstGeom>
          <a:solidFill>
            <a:srgbClr val="FFFFFF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ABD3F8-18E8-CEB5-1CAF-EB713F1BF9EE}"/>
              </a:ext>
            </a:extLst>
          </p:cNvPr>
          <p:cNvSpPr txBox="1"/>
          <p:nvPr/>
        </p:nvSpPr>
        <p:spPr>
          <a:xfrm>
            <a:off x="5082401" y="1481328"/>
            <a:ext cx="3210151" cy="224141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r>
              <a:rPr sz="1000" b="1" dirty="0">
                <a:solidFill>
                  <a:srgbClr val="566573"/>
                </a:solidFill>
                <a:latin typeface="Aptos"/>
              </a:rPr>
              <a:t>Lending Club Sample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A46613-0B5F-E2B3-0B5A-46A7A5F458A9}"/>
              </a:ext>
            </a:extLst>
          </p:cNvPr>
          <p:cNvSpPr txBox="1"/>
          <p:nvPr/>
        </p:nvSpPr>
        <p:spPr>
          <a:xfrm>
            <a:off x="5082401" y="1773936"/>
            <a:ext cx="3210151" cy="118474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 dirty="0">
                <a:solidFill>
                  <a:srgbClr val="0B3C5D"/>
                </a:solidFill>
                <a:latin typeface="Aptos"/>
              </a:rPr>
              <a:t>Logistic Regression
ROC-AUC 0.722
Recall 0.682</a:t>
            </a:r>
          </a:p>
        </p:txBody>
      </p:sp>
      <p:pic>
        <p:nvPicPr>
          <p:cNvPr id="10" name="Picture 9" descr="german-credit_roc_curve.png">
            <a:extLst>
              <a:ext uri="{FF2B5EF4-FFF2-40B4-BE49-F238E27FC236}">
                <a16:creationId xmlns:a16="http://schemas.microsoft.com/office/drawing/2014/main" id="{A23EE545-CA8E-2CD9-1D83-F0291C200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62" y="3429001"/>
            <a:ext cx="4115024" cy="2743350"/>
          </a:xfrm>
          <a:prstGeom prst="rect">
            <a:avLst/>
          </a:prstGeom>
        </p:spPr>
      </p:pic>
      <p:pic>
        <p:nvPicPr>
          <p:cNvPr id="11" name="Picture 10" descr="lending-club-sample_roc_curve.png">
            <a:extLst>
              <a:ext uri="{FF2B5EF4-FFF2-40B4-BE49-F238E27FC236}">
                <a16:creationId xmlns:a16="http://schemas.microsoft.com/office/drawing/2014/main" id="{F87CB188-8780-0851-ABF9-D831DE59C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016" y="3428999"/>
            <a:ext cx="4219624" cy="281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267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AD53F-CB92-8A69-47C9-8A210E82A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C42E5B90-C61F-E616-30DD-AC4B08D81B63}"/>
              </a:ext>
            </a:extLst>
          </p:cNvPr>
          <p:cNvSpPr txBox="1"/>
          <p:nvPr/>
        </p:nvSpPr>
        <p:spPr>
          <a:xfrm>
            <a:off x="-437791" y="0"/>
            <a:ext cx="6487487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PRECISION-RECALL CURVES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F27104F4-AEA1-D80E-DA4D-A7BB4D52814C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4C4B13-7388-5D4D-37C9-576D51F2CBEF}"/>
              </a:ext>
            </a:extLst>
          </p:cNvPr>
          <p:cNvSpPr txBox="1"/>
          <p:nvPr/>
        </p:nvSpPr>
        <p:spPr>
          <a:xfrm>
            <a:off x="157659" y="545112"/>
            <a:ext cx="106070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dirty="0">
                <a:solidFill>
                  <a:schemeClr val="bg1"/>
                </a:solidFill>
              </a:rPr>
              <a:t>Shows model behavior under class imbalance and risk-recall tradeoff</a:t>
            </a:r>
            <a:r>
              <a:rPr lang="en-US" sz="1200" dirty="0">
                <a:solidFill>
                  <a:schemeClr val="bg1"/>
                </a:solidFill>
              </a:rPr>
              <a:t>s.</a:t>
            </a:r>
            <a:endParaRPr sz="1100" b="0" dirty="0">
              <a:solidFill>
                <a:srgbClr val="566573"/>
              </a:solidFill>
              <a:latin typeface="Aptos"/>
            </a:endParaRPr>
          </a:p>
        </p:txBody>
      </p:sp>
      <p:pic>
        <p:nvPicPr>
          <p:cNvPr id="12" name="Picture 11" descr="german-credit_pr_curve.png">
            <a:extLst>
              <a:ext uri="{FF2B5EF4-FFF2-40B4-BE49-F238E27FC236}">
                <a16:creationId xmlns:a16="http://schemas.microsoft.com/office/drawing/2014/main" id="{DF596E17-C32B-1123-29CE-793AA3BFB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45" y="2024286"/>
            <a:ext cx="4024776" cy="2683184"/>
          </a:xfrm>
          <a:prstGeom prst="rect">
            <a:avLst/>
          </a:prstGeom>
        </p:spPr>
      </p:pic>
      <p:pic>
        <p:nvPicPr>
          <p:cNvPr id="13" name="Picture 12" descr="lending-club-sample_pr_curve.png">
            <a:extLst>
              <a:ext uri="{FF2B5EF4-FFF2-40B4-BE49-F238E27FC236}">
                <a16:creationId xmlns:a16="http://schemas.microsoft.com/office/drawing/2014/main" id="{162CE707-4335-995F-96D2-03DB57EF4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871" y="2022970"/>
            <a:ext cx="4026746" cy="268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9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F8117-5A58-E3A8-1F03-C4AAA3AF4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CCA74F57-B315-30B7-03ED-A8701338C129}"/>
              </a:ext>
            </a:extLst>
          </p:cNvPr>
          <p:cNvSpPr txBox="1"/>
          <p:nvPr/>
        </p:nvSpPr>
        <p:spPr>
          <a:xfrm>
            <a:off x="-690710" y="-38635"/>
            <a:ext cx="6487487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VIEW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BCAD1E43-795A-C29C-3B72-D3D4ABD0A90C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1C1B1A-4F66-5369-480A-B291B4C02A7D}"/>
              </a:ext>
            </a:extLst>
          </p:cNvPr>
          <p:cNvSpPr txBox="1"/>
          <p:nvPr/>
        </p:nvSpPr>
        <p:spPr>
          <a:xfrm>
            <a:off x="119032" y="534327"/>
            <a:ext cx="106070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 dirty="0">
                <a:solidFill>
                  <a:schemeClr val="bg1"/>
                </a:solidFill>
                <a:latin typeface="Aptos"/>
              </a:rPr>
              <a:t>Held-out decisions shown as approval-risk classification counts.</a:t>
            </a:r>
          </a:p>
        </p:txBody>
      </p:sp>
      <p:pic>
        <p:nvPicPr>
          <p:cNvPr id="5" name="Picture 4" descr="german-credit_confusion_matrix.png">
            <a:extLst>
              <a:ext uri="{FF2B5EF4-FFF2-40B4-BE49-F238E27FC236}">
                <a16:creationId xmlns:a16="http://schemas.microsoft.com/office/drawing/2014/main" id="{379802C8-7BE2-05FB-377F-7BBACEC5D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09" y="1818100"/>
            <a:ext cx="4219504" cy="3375603"/>
          </a:xfrm>
          <a:prstGeom prst="rect">
            <a:avLst/>
          </a:prstGeom>
        </p:spPr>
      </p:pic>
      <p:pic>
        <p:nvPicPr>
          <p:cNvPr id="6" name="Picture 5" descr="lending-club-sample_confusion_matrix.png">
            <a:extLst>
              <a:ext uri="{FF2B5EF4-FFF2-40B4-BE49-F238E27FC236}">
                <a16:creationId xmlns:a16="http://schemas.microsoft.com/office/drawing/2014/main" id="{C05C7964-A33B-388B-89D5-052B6ACBB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534" y="1818100"/>
            <a:ext cx="4376906" cy="350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092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4C1F7-CE54-E0D1-5BD4-A3C41322F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0EEF2B90-5570-A258-F63F-A32FF0C0028B}"/>
              </a:ext>
            </a:extLst>
          </p:cNvPr>
          <p:cNvSpPr txBox="1"/>
          <p:nvPr/>
        </p:nvSpPr>
        <p:spPr>
          <a:xfrm>
            <a:off x="-282148" y="-38635"/>
            <a:ext cx="7169331" cy="86557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PADDLEOCR DATA PIPELINE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C5D72EA5-928D-C5A4-79E1-23D7D1B244DD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AA0B55-D350-B02D-FBF7-17AF6A236188}"/>
              </a:ext>
            </a:extLst>
          </p:cNvPr>
          <p:cNvSpPr txBox="1"/>
          <p:nvPr/>
        </p:nvSpPr>
        <p:spPr>
          <a:xfrm>
            <a:off x="180936" y="534327"/>
            <a:ext cx="106070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 dirty="0">
                <a:solidFill>
                  <a:schemeClr val="bg1"/>
                </a:solidFill>
                <a:latin typeface="Aptos"/>
              </a:rPr>
              <a:t>SROIE receipts + FUNSD forms converted into </a:t>
            </a:r>
            <a:r>
              <a:rPr sz="1100" b="0" dirty="0" err="1">
                <a:solidFill>
                  <a:schemeClr val="bg1"/>
                </a:solidFill>
                <a:latin typeface="Aptos"/>
              </a:rPr>
              <a:t>PaddleOCR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 recognition labels.</a:t>
            </a:r>
          </a:p>
        </p:txBody>
      </p:sp>
      <p:pic>
        <p:nvPicPr>
          <p:cNvPr id="7" name="Picture 6" descr="ocr_workflow_overview.png">
            <a:extLst>
              <a:ext uri="{FF2B5EF4-FFF2-40B4-BE49-F238E27FC236}">
                <a16:creationId xmlns:a16="http://schemas.microsoft.com/office/drawing/2014/main" id="{E2352ED2-1030-357E-8093-CBB34450F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295" y="1665014"/>
            <a:ext cx="6969409" cy="26770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22E1B3-313F-1F15-36EA-6ACA74064A16}"/>
              </a:ext>
            </a:extLst>
          </p:cNvPr>
          <p:cNvSpPr txBox="1"/>
          <p:nvPr/>
        </p:nvSpPr>
        <p:spPr>
          <a:xfrm>
            <a:off x="2295728" y="44844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Shape 2">
            <a:extLst>
              <a:ext uri="{FF2B5EF4-FFF2-40B4-BE49-F238E27FC236}">
                <a16:creationId xmlns:a16="http://schemas.microsoft.com/office/drawing/2014/main" id="{8FCA2CC0-2E2D-5398-C1A7-19F065B63D68}"/>
              </a:ext>
            </a:extLst>
          </p:cNvPr>
          <p:cNvSpPr txBox="1"/>
          <p:nvPr/>
        </p:nvSpPr>
        <p:spPr>
          <a:xfrm>
            <a:off x="1087295" y="4189124"/>
            <a:ext cx="7210399" cy="1329317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defRPr sz="1400">
                <a:solidFill>
                  <a:srgbClr val="1B2631"/>
                </a:solidFill>
                <a:latin typeface="Apto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scanned-document sources: ICDAR2019 SROIE and FUNSD.</a:t>
            </a:r>
          </a:p>
          <a:p>
            <a:pPr>
              <a:defRPr sz="1400">
                <a:solidFill>
                  <a:srgbClr val="1B2631"/>
                </a:solidFill>
                <a:latin typeface="Apto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Converter exports train/validation/test labels for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PaddleOCR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SimpleDataSet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defRPr sz="1400">
                <a:solidFill>
                  <a:srgbClr val="1B2631"/>
                </a:solidFill>
                <a:latin typeface="Apto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metrics are included only when generated from saved evaluation artifacts.</a:t>
            </a:r>
          </a:p>
          <a:p>
            <a:pPr>
              <a:defRPr sz="1400">
                <a:solidFill>
                  <a:srgbClr val="1B2631"/>
                </a:solidFill>
                <a:latin typeface="Apto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SROIE/FUNSD OCR pipeline status: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prepared_real_dataset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Prepared recognition crops: train: 1200,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300, test: 300.</a:t>
            </a:r>
          </a:p>
        </p:txBody>
      </p:sp>
    </p:spTree>
    <p:extLst>
      <p:ext uri="{BB962C8B-B14F-4D97-AF65-F5344CB8AC3E}">
        <p14:creationId xmlns:p14="http://schemas.microsoft.com/office/powerpoint/2010/main" val="1140619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4BAB7-3A6A-3A28-0A1A-862C4DDE4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0DE852E4-4412-6E24-F5E2-8CE99BC792C7}"/>
              </a:ext>
            </a:extLst>
          </p:cNvPr>
          <p:cNvSpPr txBox="1"/>
          <p:nvPr/>
        </p:nvSpPr>
        <p:spPr>
          <a:xfrm>
            <a:off x="-885263" y="-48279"/>
            <a:ext cx="7169331" cy="86557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MEASURED OCR BASELINE 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52F7A0C2-5AFC-3852-41C6-F6C04257322C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240DBB-9E93-1905-6186-BB602512EE91}"/>
              </a:ext>
            </a:extLst>
          </p:cNvPr>
          <p:cNvSpPr txBox="1"/>
          <p:nvPr/>
        </p:nvSpPr>
        <p:spPr>
          <a:xfrm>
            <a:off x="2295728" y="44844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4CC803-994B-D5D4-E936-3A9EFF7D51E0}"/>
              </a:ext>
            </a:extLst>
          </p:cNvPr>
          <p:cNvSpPr txBox="1"/>
          <p:nvPr/>
        </p:nvSpPr>
        <p:spPr>
          <a:xfrm>
            <a:off x="156615" y="524683"/>
            <a:ext cx="106070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 dirty="0">
                <a:solidFill>
                  <a:schemeClr val="bg1"/>
                </a:solidFill>
                <a:latin typeface="Aptos"/>
              </a:rPr>
              <a:t>Traceable to artifacts/</a:t>
            </a:r>
            <a:r>
              <a:rPr sz="1100" b="0" dirty="0" err="1">
                <a:solidFill>
                  <a:schemeClr val="bg1"/>
                </a:solidFill>
                <a:latin typeface="Aptos"/>
              </a:rPr>
              <a:t>ocr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/</a:t>
            </a:r>
            <a:r>
              <a:rPr sz="1100" b="0" dirty="0" err="1">
                <a:solidFill>
                  <a:schemeClr val="bg1"/>
                </a:solidFill>
                <a:latin typeface="Aptos"/>
              </a:rPr>
              <a:t>real_ocr_finetune</a:t>
            </a:r>
            <a:r>
              <a:rPr sz="1100" b="0" dirty="0">
                <a:solidFill>
                  <a:schemeClr val="bg1"/>
                </a:solidFill>
                <a:latin typeface="Aptos"/>
              </a:rPr>
              <a:t>/baseline.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BB8C5E9-705F-2FE7-7C41-88252CBAEAB0}"/>
              </a:ext>
            </a:extLst>
          </p:cNvPr>
          <p:cNvSpPr/>
          <p:nvPr/>
        </p:nvSpPr>
        <p:spPr>
          <a:xfrm>
            <a:off x="411272" y="2130024"/>
            <a:ext cx="1893389" cy="864789"/>
          </a:xfrm>
          <a:prstGeom prst="roundRect">
            <a:avLst/>
          </a:prstGeom>
          <a:solidFill>
            <a:srgbClr val="FFFFFF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C3DDD5-BAF6-5D06-0E3C-67FCC4F72F64}"/>
              </a:ext>
            </a:extLst>
          </p:cNvPr>
          <p:cNvSpPr txBox="1"/>
          <p:nvPr/>
        </p:nvSpPr>
        <p:spPr>
          <a:xfrm>
            <a:off x="575864" y="2239752"/>
            <a:ext cx="1640937" cy="193713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Samples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3B5860-69DC-B4B5-73DC-63E276374EEF}"/>
              </a:ext>
            </a:extLst>
          </p:cNvPr>
          <p:cNvSpPr txBox="1"/>
          <p:nvPr/>
        </p:nvSpPr>
        <p:spPr>
          <a:xfrm>
            <a:off x="575864" y="2532359"/>
            <a:ext cx="1640937" cy="50503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25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B1D1327-78A0-080D-A7DD-B1AA287D189E}"/>
              </a:ext>
            </a:extLst>
          </p:cNvPr>
          <p:cNvSpPr/>
          <p:nvPr/>
        </p:nvSpPr>
        <p:spPr>
          <a:xfrm>
            <a:off x="2539611" y="2130024"/>
            <a:ext cx="1893389" cy="907372"/>
          </a:xfrm>
          <a:prstGeom prst="roundRect">
            <a:avLst/>
          </a:prstGeom>
          <a:solidFill>
            <a:srgbClr val="FFFFFF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481D75-3C56-FDDA-354D-E2B86296A766}"/>
              </a:ext>
            </a:extLst>
          </p:cNvPr>
          <p:cNvSpPr txBox="1"/>
          <p:nvPr/>
        </p:nvSpPr>
        <p:spPr>
          <a:xfrm>
            <a:off x="2704203" y="2239752"/>
            <a:ext cx="1640937" cy="203251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CER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66F953-7A2E-CD55-F01B-901502F78713}"/>
              </a:ext>
            </a:extLst>
          </p:cNvPr>
          <p:cNvSpPr txBox="1"/>
          <p:nvPr/>
        </p:nvSpPr>
        <p:spPr>
          <a:xfrm>
            <a:off x="2704203" y="2532359"/>
            <a:ext cx="1640937" cy="52990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0.110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57D7428-CC15-A260-F661-CC4AA3205B81}"/>
              </a:ext>
            </a:extLst>
          </p:cNvPr>
          <p:cNvSpPr/>
          <p:nvPr/>
        </p:nvSpPr>
        <p:spPr>
          <a:xfrm>
            <a:off x="4667950" y="2130025"/>
            <a:ext cx="1893389" cy="907371"/>
          </a:xfrm>
          <a:prstGeom prst="roundRect">
            <a:avLst/>
          </a:prstGeom>
          <a:solidFill>
            <a:srgbClr val="FFFFFF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26A67F-4F39-1B41-13BB-4682F2E04ECA}"/>
              </a:ext>
            </a:extLst>
          </p:cNvPr>
          <p:cNvSpPr txBox="1"/>
          <p:nvPr/>
        </p:nvSpPr>
        <p:spPr>
          <a:xfrm>
            <a:off x="4832542" y="2239752"/>
            <a:ext cx="1640937" cy="203251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Word Accuracy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8475B2-D3A4-E6D8-F88D-D59E30AF54B4}"/>
              </a:ext>
            </a:extLst>
          </p:cNvPr>
          <p:cNvSpPr txBox="1"/>
          <p:nvPr/>
        </p:nvSpPr>
        <p:spPr>
          <a:xfrm>
            <a:off x="4832542" y="2532359"/>
            <a:ext cx="1640937" cy="52990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0.691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3905094-1674-FBD9-1E5A-708825066DFF}"/>
              </a:ext>
            </a:extLst>
          </p:cNvPr>
          <p:cNvSpPr/>
          <p:nvPr/>
        </p:nvSpPr>
        <p:spPr>
          <a:xfrm>
            <a:off x="6793051" y="2146179"/>
            <a:ext cx="1893389" cy="866311"/>
          </a:xfrm>
          <a:prstGeom prst="roundRect">
            <a:avLst/>
          </a:prstGeom>
          <a:solidFill>
            <a:srgbClr val="FFFFFF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4A76F9-FBFA-ECAD-3730-1FEDB24F9E1E}"/>
              </a:ext>
            </a:extLst>
          </p:cNvPr>
          <p:cNvSpPr txBox="1"/>
          <p:nvPr/>
        </p:nvSpPr>
        <p:spPr>
          <a:xfrm>
            <a:off x="6957643" y="2255907"/>
            <a:ext cx="1640937" cy="194054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Exact Match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ABCEA6-CC44-C5D2-6521-2037216AC359}"/>
              </a:ext>
            </a:extLst>
          </p:cNvPr>
          <p:cNvSpPr txBox="1"/>
          <p:nvPr/>
        </p:nvSpPr>
        <p:spPr>
          <a:xfrm>
            <a:off x="6957643" y="2548515"/>
            <a:ext cx="1640937" cy="50592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0.440</a:t>
            </a:r>
          </a:p>
        </p:txBody>
      </p:sp>
      <p:sp>
        <p:nvSpPr>
          <p:cNvPr id="22" name="TextShape 2">
            <a:extLst>
              <a:ext uri="{FF2B5EF4-FFF2-40B4-BE49-F238E27FC236}">
                <a16:creationId xmlns:a16="http://schemas.microsoft.com/office/drawing/2014/main" id="{6014CC68-CDEE-C0D5-C851-06C52CB37094}"/>
              </a:ext>
            </a:extLst>
          </p:cNvPr>
          <p:cNvSpPr txBox="1"/>
          <p:nvPr/>
        </p:nvSpPr>
        <p:spPr>
          <a:xfrm>
            <a:off x="556566" y="3429000"/>
            <a:ext cx="8030868" cy="1261866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defRPr sz="1700">
                <a:solidFill>
                  <a:srgbClr val="1B2631"/>
                </a:solidFill>
                <a:latin typeface="Apto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uses held-out real scanned-document crops prepared from public datasets.</a:t>
            </a:r>
          </a:p>
          <a:p>
            <a:pPr>
              <a:defRPr sz="1700">
                <a:solidFill>
                  <a:srgbClr val="1B2631"/>
                </a:solidFill>
                <a:latin typeface="Apto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test labels can be reused after fine-tuning for baseline-vs-fine-tuned comparison.</a:t>
            </a:r>
          </a:p>
          <a:p>
            <a:pPr>
              <a:defRPr sz="1700">
                <a:solidFill>
                  <a:srgbClr val="1B2631"/>
                </a:solidFill>
                <a:latin typeface="Apto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Borrower-document deployment should add privacy-reviewed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financial forms.</a:t>
            </a:r>
          </a:p>
        </p:txBody>
      </p:sp>
    </p:spTree>
    <p:extLst>
      <p:ext uri="{BB962C8B-B14F-4D97-AF65-F5344CB8AC3E}">
        <p14:creationId xmlns:p14="http://schemas.microsoft.com/office/powerpoint/2010/main" val="899262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6922D-84BE-FB67-3581-21AC283D7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7F0FD155-8F8E-7973-8EF0-783FE27F9D3D}"/>
              </a:ext>
            </a:extLst>
          </p:cNvPr>
          <p:cNvSpPr txBox="1"/>
          <p:nvPr/>
        </p:nvSpPr>
        <p:spPr>
          <a:xfrm>
            <a:off x="-384640" y="100301"/>
            <a:ext cx="6727383" cy="612014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 AND TRACEABILITY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DB6ABABF-7746-04B3-F141-1216F370FFA0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DD85D5-4DA1-EDDA-3B35-61399D56A2EE}"/>
              </a:ext>
            </a:extLst>
          </p:cNvPr>
          <p:cNvSpPr txBox="1"/>
          <p:nvPr/>
        </p:nvSpPr>
        <p:spPr>
          <a:xfrm>
            <a:off x="2295728" y="44844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53EEFE-278A-8C3F-D141-F8CC4012CC2B}"/>
              </a:ext>
            </a:extLst>
          </p:cNvPr>
          <p:cNvSpPr txBox="1"/>
          <p:nvPr/>
        </p:nvSpPr>
        <p:spPr>
          <a:xfrm>
            <a:off x="138466" y="507017"/>
            <a:ext cx="106070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 dirty="0">
                <a:solidFill>
                  <a:schemeClr val="bg1"/>
                </a:solidFill>
                <a:latin typeface="Aptos"/>
              </a:rPr>
              <a:t>Feature importance is exported for both benchmark datasets.</a:t>
            </a:r>
          </a:p>
        </p:txBody>
      </p:sp>
      <p:pic>
        <p:nvPicPr>
          <p:cNvPr id="4" name="Picture 3" descr="german-credit_feature_importance.png">
            <a:extLst>
              <a:ext uri="{FF2B5EF4-FFF2-40B4-BE49-F238E27FC236}">
                <a16:creationId xmlns:a16="http://schemas.microsoft.com/office/drawing/2014/main" id="{BAD98B15-8DEC-1D91-3BCA-3EFC5E790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6" y="1667886"/>
            <a:ext cx="4506504" cy="2816565"/>
          </a:xfrm>
          <a:prstGeom prst="rect">
            <a:avLst/>
          </a:prstGeom>
        </p:spPr>
      </p:pic>
      <p:pic>
        <p:nvPicPr>
          <p:cNvPr id="6" name="Picture 5" descr="lending-club-sample_feature_importance.png">
            <a:extLst>
              <a:ext uri="{FF2B5EF4-FFF2-40B4-BE49-F238E27FC236}">
                <a16:creationId xmlns:a16="http://schemas.microsoft.com/office/drawing/2014/main" id="{148B83B9-3EEB-AF49-9C8A-F9D965886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55196"/>
            <a:ext cx="4370406" cy="2731504"/>
          </a:xfrm>
          <a:prstGeom prst="rect">
            <a:avLst/>
          </a:prstGeom>
        </p:spPr>
      </p:pic>
      <p:sp>
        <p:nvSpPr>
          <p:cNvPr id="23" name="TextShape 2">
            <a:extLst>
              <a:ext uri="{FF2B5EF4-FFF2-40B4-BE49-F238E27FC236}">
                <a16:creationId xmlns:a16="http://schemas.microsoft.com/office/drawing/2014/main" id="{3904DD99-3414-29E2-C976-0E50C0A1E016}"/>
              </a:ext>
            </a:extLst>
          </p:cNvPr>
          <p:cNvSpPr txBox="1"/>
          <p:nvPr/>
        </p:nvSpPr>
        <p:spPr>
          <a:xfrm>
            <a:off x="1667668" y="4571761"/>
            <a:ext cx="8030868" cy="1261866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defRPr sz="1200">
                <a:solidFill>
                  <a:srgbClr val="1B2631"/>
                </a:solidFill>
                <a:latin typeface="Aptos"/>
              </a:defRPr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Feature-importance artifacts are generated for every benchmark run.</a:t>
            </a:r>
          </a:p>
          <a:p>
            <a:pPr>
              <a:defRPr sz="1200">
                <a:solidFill>
                  <a:srgbClr val="1B2631"/>
                </a:solidFill>
                <a:latin typeface="Aptos"/>
              </a:defRPr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are exported as JSON and summarized in CSV.</a:t>
            </a:r>
          </a:p>
          <a:p>
            <a:pPr>
              <a:defRPr sz="1200">
                <a:solidFill>
                  <a:srgbClr val="1B2631"/>
                </a:solidFill>
                <a:latin typeface="Aptos"/>
              </a:defRPr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report values can be traced to saved repository artifacts.</a:t>
            </a:r>
          </a:p>
        </p:txBody>
      </p:sp>
    </p:spTree>
    <p:extLst>
      <p:ext uri="{BB962C8B-B14F-4D97-AF65-F5344CB8AC3E}">
        <p14:creationId xmlns:p14="http://schemas.microsoft.com/office/powerpoint/2010/main" val="752754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2A329-FFFE-99AD-620E-1E79342AC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7BD81276-A5DF-E91D-2749-25C7BD6E36D2}"/>
              </a:ext>
            </a:extLst>
          </p:cNvPr>
          <p:cNvSpPr txBox="1"/>
          <p:nvPr/>
        </p:nvSpPr>
        <p:spPr>
          <a:xfrm>
            <a:off x="-831194" y="97562"/>
            <a:ext cx="6727383" cy="612014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SUBMISSION STRUCTURE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35BB75BB-6426-0360-1CEB-7D8D6951F45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62216B-B2ED-32F9-7B0D-9C81AE43E982}"/>
              </a:ext>
            </a:extLst>
          </p:cNvPr>
          <p:cNvSpPr txBox="1"/>
          <p:nvPr/>
        </p:nvSpPr>
        <p:spPr>
          <a:xfrm>
            <a:off x="2295728" y="44844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3" name="TextShape 2">
            <a:extLst>
              <a:ext uri="{FF2B5EF4-FFF2-40B4-BE49-F238E27FC236}">
                <a16:creationId xmlns:a16="http://schemas.microsoft.com/office/drawing/2014/main" id="{5FADD0A2-FA7D-CE34-3641-B6B402850336}"/>
              </a:ext>
            </a:extLst>
          </p:cNvPr>
          <p:cNvSpPr txBox="1"/>
          <p:nvPr/>
        </p:nvSpPr>
        <p:spPr>
          <a:xfrm>
            <a:off x="1426552" y="2798067"/>
            <a:ext cx="8030868" cy="1261866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rPr lang="en-IN" sz="1600" dirty="0"/>
              <a:t>IPR Submission Proof: placeholder for copyright form and screenshot.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rPr lang="en-IN" sz="1600" dirty="0"/>
              <a:t>Report and PPT: final DOCX, PPTX, templates, markdown, and figures.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rPr lang="en-IN" sz="1600" dirty="0"/>
              <a:t>Source code: runnable code, configs, tests, data samples, and artifacts.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rPr lang="en-IN" sz="1600" dirty="0" err="1"/>
              <a:t>README.md</a:t>
            </a:r>
            <a:r>
              <a:rPr lang="en-IN" sz="1600" dirty="0"/>
              <a:t>: team details, project type, status, and run instructions.</a:t>
            </a:r>
          </a:p>
        </p:txBody>
      </p:sp>
    </p:spTree>
    <p:extLst>
      <p:ext uri="{BB962C8B-B14F-4D97-AF65-F5344CB8AC3E}">
        <p14:creationId xmlns:p14="http://schemas.microsoft.com/office/powerpoint/2010/main" val="470145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C2C50-0394-0DFC-377C-9B1EAA7B8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D7807883-632C-1055-0088-36587B6C9717}"/>
              </a:ext>
            </a:extLst>
          </p:cNvPr>
          <p:cNvSpPr txBox="1"/>
          <p:nvPr/>
        </p:nvSpPr>
        <p:spPr>
          <a:xfrm>
            <a:off x="-831194" y="97562"/>
            <a:ext cx="6727383" cy="612014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SUBMISSION STRUCTURE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0DADFBC3-38B0-9E65-3FD4-CE79465AEFD1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AAA61E-1A79-2AED-95FA-14C9F40DB447}"/>
              </a:ext>
            </a:extLst>
          </p:cNvPr>
          <p:cNvSpPr txBox="1"/>
          <p:nvPr/>
        </p:nvSpPr>
        <p:spPr>
          <a:xfrm>
            <a:off x="2362963" y="52643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AA9961D-0359-EAB3-FBF1-DA074C64E97F}"/>
              </a:ext>
            </a:extLst>
          </p:cNvPr>
          <p:cNvSpPr/>
          <p:nvPr/>
        </p:nvSpPr>
        <p:spPr>
          <a:xfrm>
            <a:off x="753035" y="2151529"/>
            <a:ext cx="3550024" cy="1169894"/>
          </a:xfrm>
          <a:prstGeom prst="roundRect">
            <a:avLst/>
          </a:prstGeom>
          <a:solidFill>
            <a:srgbClr val="FEF9E7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0F4508-E0B9-047E-9315-9611F81CB9CF}"/>
              </a:ext>
            </a:extLst>
          </p:cNvPr>
          <p:cNvSpPr txBox="1"/>
          <p:nvPr/>
        </p:nvSpPr>
        <p:spPr>
          <a:xfrm>
            <a:off x="917627" y="2261257"/>
            <a:ext cx="3321807" cy="3119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Filing Status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CA1BCC-6BB7-106A-BAD2-E9C173EE8992}"/>
              </a:ext>
            </a:extLst>
          </p:cNvPr>
          <p:cNvSpPr txBox="1"/>
          <p:nvPr/>
        </p:nvSpPr>
        <p:spPr>
          <a:xfrm>
            <a:off x="917627" y="2553865"/>
            <a:ext cx="3321807" cy="59051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IPR proof folder and copyright placeholder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A9117AB-7CF5-DC8F-47DA-247B435812F7}"/>
              </a:ext>
            </a:extLst>
          </p:cNvPr>
          <p:cNvSpPr/>
          <p:nvPr/>
        </p:nvSpPr>
        <p:spPr>
          <a:xfrm>
            <a:off x="4975413" y="2122839"/>
            <a:ext cx="3550022" cy="1198584"/>
          </a:xfrm>
          <a:prstGeom prst="roundRect">
            <a:avLst/>
          </a:prstGeom>
          <a:solidFill>
            <a:srgbClr val="EAF2F8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443808-D982-EE99-A88F-38FB6E10510E}"/>
              </a:ext>
            </a:extLst>
          </p:cNvPr>
          <p:cNvSpPr txBox="1"/>
          <p:nvPr/>
        </p:nvSpPr>
        <p:spPr>
          <a:xfrm>
            <a:off x="5140005" y="2232566"/>
            <a:ext cx="3321805" cy="31962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Platform Compliance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34EC87-C2AE-6FB1-6239-D1F69B3DBA95}"/>
              </a:ext>
            </a:extLst>
          </p:cNvPr>
          <p:cNvSpPr txBox="1"/>
          <p:nvPr/>
        </p:nvSpPr>
        <p:spPr>
          <a:xfrm>
            <a:off x="5140005" y="2525175"/>
            <a:ext cx="3321805" cy="60500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Required GitHub folders and runnable code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6D95259-280A-F8C5-9BB3-38FDBC5AD6CE}"/>
              </a:ext>
            </a:extLst>
          </p:cNvPr>
          <p:cNvSpPr/>
          <p:nvPr/>
        </p:nvSpPr>
        <p:spPr>
          <a:xfrm>
            <a:off x="753035" y="3568849"/>
            <a:ext cx="3550024" cy="1169894"/>
          </a:xfrm>
          <a:prstGeom prst="roundRect">
            <a:avLst/>
          </a:prstGeom>
          <a:solidFill>
            <a:srgbClr val="E8F8F5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B64D5A-D129-480C-4DC0-F2F19D872AA2}"/>
              </a:ext>
            </a:extLst>
          </p:cNvPr>
          <p:cNvSpPr txBox="1"/>
          <p:nvPr/>
        </p:nvSpPr>
        <p:spPr>
          <a:xfrm>
            <a:off x="917627" y="3678577"/>
            <a:ext cx="3321807" cy="3119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Revision Handling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1F9FE1-972E-0590-B81B-5CDF7FDE0C1E}"/>
              </a:ext>
            </a:extLst>
          </p:cNvPr>
          <p:cNvSpPr txBox="1"/>
          <p:nvPr/>
        </p:nvSpPr>
        <p:spPr>
          <a:xfrm>
            <a:off x="917627" y="3971185"/>
            <a:ext cx="3321807" cy="590518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Report, PPT, README, figures, templates, generator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AE79C57-4131-BE13-AEB7-31971A151503}"/>
              </a:ext>
            </a:extLst>
          </p:cNvPr>
          <p:cNvSpPr/>
          <p:nvPr/>
        </p:nvSpPr>
        <p:spPr>
          <a:xfrm>
            <a:off x="4975413" y="3568849"/>
            <a:ext cx="3550022" cy="1198584"/>
          </a:xfrm>
          <a:prstGeom prst="roundRect">
            <a:avLst/>
          </a:prstGeom>
          <a:solidFill>
            <a:srgbClr val="F4ECF7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9F62FB-4497-FB28-5DCC-763023B51C22}"/>
              </a:ext>
            </a:extLst>
          </p:cNvPr>
          <p:cNvSpPr txBox="1"/>
          <p:nvPr/>
        </p:nvSpPr>
        <p:spPr>
          <a:xfrm>
            <a:off x="5140006" y="3678577"/>
            <a:ext cx="3321806" cy="31962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Supervisor Updates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DBED41-B7EB-7103-22A4-FD9A603F24FC}"/>
              </a:ext>
            </a:extLst>
          </p:cNvPr>
          <p:cNvSpPr txBox="1"/>
          <p:nvPr/>
        </p:nvSpPr>
        <p:spPr>
          <a:xfrm>
            <a:off x="5140006" y="3971185"/>
            <a:ext cx="3321806" cy="60500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Progress and feedback reflected in final documentation</a:t>
            </a:r>
          </a:p>
        </p:txBody>
      </p:sp>
    </p:spTree>
    <p:extLst>
      <p:ext uri="{BB962C8B-B14F-4D97-AF65-F5344CB8AC3E}">
        <p14:creationId xmlns:p14="http://schemas.microsoft.com/office/powerpoint/2010/main" val="3728528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DAFF3-8450-EF4C-33D9-9A6CFE75D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13603B0-8594-6713-814B-C75FDCEB2E9D}"/>
              </a:ext>
            </a:extLst>
          </p:cNvPr>
          <p:cNvSpPr txBox="1"/>
          <p:nvPr/>
        </p:nvSpPr>
        <p:spPr>
          <a:xfrm>
            <a:off x="-602594" y="91759"/>
            <a:ext cx="6727383" cy="612014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SCROPE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844F87C1-198D-10DB-82BE-34DF79B4332D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A8916E-584C-E228-365B-97A298C2BDB4}"/>
              </a:ext>
            </a:extLst>
          </p:cNvPr>
          <p:cNvSpPr txBox="1"/>
          <p:nvPr/>
        </p:nvSpPr>
        <p:spPr>
          <a:xfrm>
            <a:off x="2362963" y="52643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2F22C9-BC53-1F91-64E7-0B9B9D813387}"/>
              </a:ext>
            </a:extLst>
          </p:cNvPr>
          <p:cNvSpPr txBox="1"/>
          <p:nvPr/>
        </p:nvSpPr>
        <p:spPr>
          <a:xfrm>
            <a:off x="1277470" y="2728808"/>
            <a:ext cx="658906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800">
                <a:solidFill>
                  <a:srgbClr val="1B2631"/>
                </a:solidFill>
                <a:latin typeface="Aptos"/>
              </a:defRPr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Delivered a reproducible AI-based loan risk assessment package.</a:t>
            </a:r>
          </a:p>
          <a:p>
            <a:pPr algn="just">
              <a:defRPr sz="1800">
                <a:solidFill>
                  <a:srgbClr val="1B2631"/>
                </a:solidFill>
                <a:latin typeface="Aptos"/>
              </a:defRPr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Credit-scoring benchmark identifies strong transparent baselines.</a:t>
            </a:r>
          </a:p>
          <a:p>
            <a:pPr algn="just">
              <a:defRPr sz="1800">
                <a:solidFill>
                  <a:srgbClr val="1B2631"/>
                </a:solidFill>
                <a:latin typeface="Aptos"/>
              </a:defRPr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workflow shows practical document-intake extension potential.</a:t>
            </a:r>
          </a:p>
          <a:p>
            <a:pPr algn="just">
              <a:defRPr sz="1800">
                <a:solidFill>
                  <a:srgbClr val="1B2631"/>
                </a:solidFill>
                <a:latin typeface="Aptos"/>
              </a:defRPr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larger Lending Club experiments, SHAP explanations, scanned-form OCR evaluation, and API deployment.</a:t>
            </a:r>
          </a:p>
        </p:txBody>
      </p:sp>
    </p:spTree>
    <p:extLst>
      <p:ext uri="{BB962C8B-B14F-4D97-AF65-F5344CB8AC3E}">
        <p14:creationId xmlns:p14="http://schemas.microsoft.com/office/powerpoint/2010/main" val="2219606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15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34792</TotalTime>
  <Words>673</Words>
  <Application>Microsoft Macintosh PowerPoint</Application>
  <PresentationFormat>On-screen Show (4:3)</PresentationFormat>
  <Paragraphs>106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Sahajpal Singh</cp:lastModifiedBy>
  <cp:revision>2301</cp:revision>
  <dcterms:created xsi:type="dcterms:W3CDTF">2010-04-09T07:36:15Z</dcterms:created>
  <dcterms:modified xsi:type="dcterms:W3CDTF">2026-05-01T20:22:24Z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